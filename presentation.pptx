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63" r:id="rId1"/>
  </p:sldMasterIdLst>
  <p:notesMasterIdLst>
    <p:notesMasterId r:id="rId17"/>
  </p:notesMasterIdLst>
  <p:sldIdLst>
    <p:sldId id="256" r:id="rId2"/>
    <p:sldId id="257" r:id="rId3"/>
    <p:sldId id="260" r:id="rId4"/>
    <p:sldId id="261" r:id="rId5"/>
    <p:sldId id="262" r:id="rId6"/>
    <p:sldId id="264" r:id="rId7"/>
    <p:sldId id="265" r:id="rId8"/>
    <p:sldId id="272" r:id="rId9"/>
    <p:sldId id="268" r:id="rId10"/>
    <p:sldId id="269" r:id="rId11"/>
    <p:sldId id="270" r:id="rId12"/>
    <p:sldId id="271" r:id="rId13"/>
    <p:sldId id="273" r:id="rId14"/>
    <p:sldId id="274" r:id="rId15"/>
    <p:sldId id="25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B89961-D318-413B-BA60-B2A23A7E5071}" type="datetimeFigureOut">
              <a:rPr lang="en-US" smtClean="0"/>
              <a:t>5/9/2019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E16F4-9F28-46B1-B278-80C299776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60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908DE-D70F-4B99-A7F4-6D9E5449FEDD}" type="datetime1">
              <a:rPr lang="en-US" smtClean="0"/>
              <a:t>5/9/2019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702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8C485-C01F-4791-9419-DF88F05FEDB9}" type="datetime1">
              <a:rPr lang="en-US" smtClean="0"/>
              <a:t>5/9/2019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883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7D9B-C294-4434-B2EA-97F5E12199CC}" type="datetime1">
              <a:rPr lang="en-US" smtClean="0"/>
              <a:t>5/9/2019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878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4294-AA79-45A1-968C-AADDD6284275}" type="datetime1">
              <a:rPr lang="en-US" smtClean="0"/>
              <a:t>5/9/2019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20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0B6A4-B6C5-4390-92B1-22BD445C8748}" type="datetime1">
              <a:rPr lang="en-US" smtClean="0"/>
              <a:t>5/9/2019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58244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8656-BC17-42C3-9612-51EF7843ABD8}" type="datetime1">
              <a:rPr lang="en-US" smtClean="0"/>
              <a:t>5/9/2019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444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0BCD-AB65-4005-8BE5-203596E68731}" type="datetime1">
              <a:rPr lang="en-US" smtClean="0"/>
              <a:t>5/9/2019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27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7525841-01F6-4BC3-A155-EE21AD7A6D6A}" type="datetime1">
              <a:rPr lang="en-US" smtClean="0"/>
              <a:t>5/9/2019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747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FEFFC-1735-4494-B935-A5E8DA901DF3}" type="datetime1">
              <a:rPr lang="en-US" smtClean="0"/>
              <a:t>5/9/2019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833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7118-F289-4B13-A5E0-07AACC3B9C08}" type="datetime1">
              <a:rPr lang="en-US" smtClean="0"/>
              <a:t>5/9/2019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20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55560-F6CD-4B86-B63B-CE877EF7DFB3}" type="datetime1">
              <a:rPr lang="en-US" smtClean="0"/>
              <a:t>5/9/2019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597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C30B6A4-B6C5-4390-92B1-22BD445C8748}" type="datetime1">
              <a:rPr lang="en-US" smtClean="0"/>
              <a:t>5/9/2019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833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rakesh.agrawal-family.com/papers/vldb94apriori.pdf" TargetMode="External"/><Relationship Id="rId2" Type="http://schemas.openxmlformats.org/officeDocument/2006/relationships/hyperlink" Target="http://portal.acm.org/citation.cfm?id=1011116.1011127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marcinex1423/salesdb-grocery" TargetMode="External"/><Relationship Id="rId4" Type="http://schemas.openxmlformats.org/officeDocument/2006/relationships/hyperlink" Target="http://www.inf.ufsc.br/~vania/teaching/INE5644/RegrasDeAssociacao.pp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41D74-11D6-4FED-B756-6D282BD7DD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 err="1"/>
              <a:t>Implementação</a:t>
            </a:r>
            <a:r>
              <a:rPr lang="en-US" sz="3200" b="1" dirty="0"/>
              <a:t> e Benchmarking do </a:t>
            </a:r>
            <a:r>
              <a:rPr lang="en-US" sz="3200" b="1" dirty="0" err="1"/>
              <a:t>Algoritmo</a:t>
            </a:r>
            <a:r>
              <a:rPr lang="en-US" sz="3200" b="1" dirty="0"/>
              <a:t> </a:t>
            </a:r>
            <a:r>
              <a:rPr lang="en-US" sz="3200" b="1" dirty="0" err="1"/>
              <a:t>Apriori</a:t>
            </a:r>
            <a:br>
              <a:rPr lang="en-US" sz="3200" b="1" dirty="0"/>
            </a:br>
            <a:r>
              <a:rPr lang="en-US" sz="3200" b="1" dirty="0" err="1"/>
              <a:t>Utilizando</a:t>
            </a:r>
            <a:r>
              <a:rPr lang="en-US" sz="3200" b="1" dirty="0"/>
              <a:t> OpenMP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323AD-CF16-44DA-985A-C39B3DF0B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038" y="4455620"/>
            <a:ext cx="7543800" cy="1332783"/>
          </a:xfrm>
        </p:spPr>
        <p:txBody>
          <a:bodyPr anchor="b"/>
          <a:lstStyle/>
          <a:p>
            <a:pPr algn="ctr"/>
            <a:r>
              <a:rPr lang="en-US" cap="none" dirty="0">
                <a:latin typeface="+mn-lt"/>
              </a:rPr>
              <a:t>Nivaldo Mariano de Carvalho Júnior</a:t>
            </a:r>
          </a:p>
          <a:p>
            <a:pPr algn="ctr"/>
            <a:r>
              <a:rPr lang="en-US" sz="1400" cap="none" dirty="0">
                <a:latin typeface="+mn-lt"/>
              </a:rPr>
              <a:t>2019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0E0E67F-5C23-4ADE-8C24-FE94DD8C94F8}"/>
              </a:ext>
            </a:extLst>
          </p:cNvPr>
          <p:cNvSpPr txBox="1">
            <a:spLocks/>
          </p:cNvSpPr>
          <p:nvPr/>
        </p:nvSpPr>
        <p:spPr>
          <a:xfrm>
            <a:off x="822960" y="393785"/>
            <a:ext cx="7543800" cy="936667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cap="none" dirty="0">
                <a:latin typeface="+mn-lt"/>
              </a:rPr>
              <a:t>UFPB – </a:t>
            </a:r>
            <a:r>
              <a:rPr lang="en-US" cap="none" dirty="0" err="1">
                <a:latin typeface="+mn-lt"/>
              </a:rPr>
              <a:t>Universidade</a:t>
            </a:r>
            <a:r>
              <a:rPr lang="en-US" cap="none" dirty="0">
                <a:latin typeface="+mn-lt"/>
              </a:rPr>
              <a:t> Federal da </a:t>
            </a:r>
            <a:r>
              <a:rPr lang="en-US" cap="none" dirty="0" err="1">
                <a:latin typeface="+mn-lt"/>
              </a:rPr>
              <a:t>Paraíba</a:t>
            </a:r>
            <a:endParaRPr lang="en-US" cap="none" dirty="0">
              <a:latin typeface="+mn-lt"/>
            </a:endParaRPr>
          </a:p>
          <a:p>
            <a:pPr algn="ctr"/>
            <a:r>
              <a:rPr lang="en-US" cap="none" dirty="0">
                <a:latin typeface="+mn-lt"/>
              </a:rPr>
              <a:t>Centro de </a:t>
            </a:r>
            <a:r>
              <a:rPr lang="en-US" cap="none" dirty="0" err="1">
                <a:latin typeface="+mn-lt"/>
              </a:rPr>
              <a:t>Informática</a:t>
            </a:r>
            <a:endParaRPr lang="en-US" cap="non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359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76E-6DC2-4B01-8BFC-BAA746E21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Roteiro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3AB19-0C57-4A2B-8E95-289E711A5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Introdução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Objetivos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Metodologia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Parciais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Referências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9A2C9-1E42-4EF6-9578-BD364DA34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211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F333-698D-4702-9E58-EEEA1168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Introdução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1B81D-01D3-4EDB-B6AE-FF6A1AAFC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Programação</a:t>
            </a:r>
            <a:r>
              <a:rPr lang="en-US" sz="2400" dirty="0"/>
              <a:t> </a:t>
            </a:r>
            <a:r>
              <a:rPr lang="en-US" sz="2400" dirty="0" err="1"/>
              <a:t>Paralela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Forma de </a:t>
            </a:r>
            <a:r>
              <a:rPr lang="en-US" sz="2000" dirty="0" err="1"/>
              <a:t>computação</a:t>
            </a:r>
            <a:r>
              <a:rPr lang="en-US" sz="2000" dirty="0"/>
              <a:t> que </a:t>
            </a:r>
            <a:r>
              <a:rPr lang="en-US" sz="2000" dirty="0" err="1"/>
              <a:t>vários</a:t>
            </a:r>
            <a:r>
              <a:rPr lang="en-US" sz="2000" dirty="0"/>
              <a:t> </a:t>
            </a:r>
            <a:r>
              <a:rPr lang="en-US" sz="2000" dirty="0" err="1"/>
              <a:t>cálculos</a:t>
            </a:r>
            <a:r>
              <a:rPr lang="en-US" sz="2000" dirty="0"/>
              <a:t>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realizados</a:t>
            </a:r>
            <a:r>
              <a:rPr lang="en-US" sz="2000" dirty="0"/>
              <a:t> </a:t>
            </a:r>
            <a:r>
              <a:rPr lang="en-US" sz="2000" dirty="0" err="1"/>
              <a:t>ao</a:t>
            </a:r>
            <a:r>
              <a:rPr lang="en-US" sz="2000" dirty="0"/>
              <a:t> </a:t>
            </a:r>
            <a:r>
              <a:rPr lang="en-US" sz="2000" dirty="0" err="1"/>
              <a:t>mesmo</a:t>
            </a:r>
            <a:r>
              <a:rPr lang="en-US" sz="2000" dirty="0"/>
              <a:t> tempo (GOTTLIEB, 1989).</a:t>
            </a:r>
            <a:endParaRPr lang="en-US" sz="2000" baseline="30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/>
              <a:t>Tem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princípio</a:t>
            </a:r>
            <a:r>
              <a:rPr lang="en-US" sz="2000" dirty="0"/>
              <a:t> que </a:t>
            </a:r>
            <a:r>
              <a:rPr lang="en-US" sz="2000" dirty="0" err="1"/>
              <a:t>grandes</a:t>
            </a:r>
            <a:r>
              <a:rPr lang="en-US" sz="2000" dirty="0"/>
              <a:t> </a:t>
            </a:r>
            <a:r>
              <a:rPr lang="en-US" sz="2000" dirty="0" err="1"/>
              <a:t>problemas</a:t>
            </a:r>
            <a:r>
              <a:rPr lang="en-US" sz="2000" dirty="0"/>
              <a:t> </a:t>
            </a:r>
            <a:r>
              <a:rPr lang="en-US" sz="2000" dirty="0" err="1"/>
              <a:t>podem</a:t>
            </a:r>
            <a:r>
              <a:rPr lang="en-US" sz="2000" dirty="0"/>
              <a:t> ser </a:t>
            </a:r>
            <a:r>
              <a:rPr lang="en-US" sz="2000" dirty="0" err="1"/>
              <a:t>divididos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problemas</a:t>
            </a:r>
            <a:r>
              <a:rPr lang="en-US" sz="2000" dirty="0"/>
              <a:t> </a:t>
            </a:r>
            <a:r>
              <a:rPr lang="en-US" sz="2000" dirty="0" err="1"/>
              <a:t>menores</a:t>
            </a:r>
            <a:r>
              <a:rPr lang="en-US" sz="2000" dirty="0"/>
              <a:t>, para </a:t>
            </a:r>
            <a:r>
              <a:rPr lang="en-US" sz="2000" dirty="0" err="1"/>
              <a:t>serem</a:t>
            </a:r>
            <a:r>
              <a:rPr lang="en-US" sz="2000" dirty="0"/>
              <a:t> </a:t>
            </a:r>
            <a:r>
              <a:rPr lang="en-US" sz="2000" dirty="0" err="1"/>
              <a:t>resolvidos</a:t>
            </a:r>
            <a:r>
              <a:rPr lang="en-US" sz="2000" dirty="0"/>
              <a:t> </a:t>
            </a:r>
            <a:r>
              <a:rPr lang="en-US" sz="2000" i="1" u="sng" dirty="0" err="1"/>
              <a:t>concorrentemente</a:t>
            </a:r>
            <a:r>
              <a:rPr lang="en-US" sz="2000" dirty="0"/>
              <a:t> (GOTTLIEB, 1989)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OpenMP (Open Multi-Processing)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É </a:t>
            </a:r>
            <a:r>
              <a:rPr lang="en-US" sz="2000" dirty="0" err="1"/>
              <a:t>uma</a:t>
            </a:r>
            <a:r>
              <a:rPr lang="en-US" sz="2000" dirty="0"/>
              <a:t> API multi-</a:t>
            </a:r>
            <a:r>
              <a:rPr lang="en-US" sz="2000" dirty="0" err="1"/>
              <a:t>plataforma</a:t>
            </a:r>
            <a:r>
              <a:rPr lang="en-US" sz="2000" dirty="0"/>
              <a:t>  (open-source) para </a:t>
            </a:r>
            <a:r>
              <a:rPr lang="en-US" sz="2000" dirty="0" err="1"/>
              <a:t>processamento</a:t>
            </a:r>
            <a:r>
              <a:rPr lang="en-US" sz="2000" dirty="0"/>
              <a:t> </a:t>
            </a:r>
            <a:r>
              <a:rPr lang="en-US" sz="2000" dirty="0" err="1"/>
              <a:t>paralelo</a:t>
            </a:r>
            <a:r>
              <a:rPr lang="en-US" sz="2000" dirty="0"/>
              <a:t> </a:t>
            </a:r>
            <a:r>
              <a:rPr lang="en-US" sz="2000" dirty="0" err="1"/>
              <a:t>baseado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memória</a:t>
            </a:r>
            <a:r>
              <a:rPr lang="en-US" sz="2000" dirty="0"/>
              <a:t> </a:t>
            </a:r>
            <a:r>
              <a:rPr lang="en-US" sz="2000" dirty="0" err="1"/>
              <a:t>compartilhada</a:t>
            </a:r>
            <a:r>
              <a:rPr lang="en-US" sz="2000" baseline="30000" dirty="0"/>
              <a:t> </a:t>
            </a:r>
            <a:r>
              <a:rPr lang="en-US" sz="2000" dirty="0"/>
              <a:t>(SILVA, 2007)</a:t>
            </a:r>
            <a:endParaRPr lang="en-US" sz="2000" baseline="30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/>
              <a:t>Possui</a:t>
            </a:r>
            <a:r>
              <a:rPr lang="en-US" sz="2000" dirty="0"/>
              <a:t> </a:t>
            </a:r>
            <a:r>
              <a:rPr lang="en-US" sz="2000" dirty="0" err="1"/>
              <a:t>implementações</a:t>
            </a:r>
            <a:r>
              <a:rPr lang="en-US" sz="2000" dirty="0"/>
              <a:t> 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compiladores</a:t>
            </a:r>
            <a:r>
              <a:rPr lang="en-US" sz="2000" dirty="0"/>
              <a:t> das </a:t>
            </a:r>
            <a:r>
              <a:rPr lang="en-US" sz="2000" dirty="0" err="1"/>
              <a:t>linguagens</a:t>
            </a:r>
            <a:r>
              <a:rPr lang="en-US" sz="2000" dirty="0"/>
              <a:t> C, C++ e Fortran (SILVA, 2007)</a:t>
            </a:r>
            <a:endParaRPr lang="en-US" sz="2000" baseline="30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/>
              <a:t>Consiste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um conjunto de </a:t>
            </a:r>
            <a:r>
              <a:rPr lang="en-US" sz="2000" i="1" u="sng" dirty="0" err="1"/>
              <a:t>diretivas</a:t>
            </a:r>
            <a:r>
              <a:rPr lang="en-US" sz="2000" dirty="0"/>
              <a:t>, </a:t>
            </a:r>
            <a:r>
              <a:rPr lang="en-US" sz="2000" i="1" u="sng" dirty="0" err="1"/>
              <a:t>bibliotecas</a:t>
            </a:r>
            <a:r>
              <a:rPr lang="en-US" sz="2000" dirty="0"/>
              <a:t> e </a:t>
            </a:r>
            <a:r>
              <a:rPr lang="en-US" sz="2000" i="1" u="sng" dirty="0" err="1"/>
              <a:t>variáveis</a:t>
            </a:r>
            <a:r>
              <a:rPr lang="en-US" sz="2000" u="sng" dirty="0"/>
              <a:t> </a:t>
            </a:r>
            <a:r>
              <a:rPr lang="en-US" sz="2000" i="1" u="sng" dirty="0"/>
              <a:t>de</a:t>
            </a:r>
            <a:r>
              <a:rPr lang="en-US" sz="2000" u="sng" dirty="0"/>
              <a:t> </a:t>
            </a:r>
            <a:r>
              <a:rPr lang="en-US" sz="2000" i="1" u="sng" dirty="0" err="1"/>
              <a:t>ambiente</a:t>
            </a:r>
            <a:r>
              <a:rPr lang="en-US" sz="2000" dirty="0"/>
              <a:t> para o </a:t>
            </a:r>
            <a:r>
              <a:rPr lang="en-US" sz="2000" dirty="0" err="1"/>
              <a:t>compilador</a:t>
            </a:r>
            <a:endParaRPr lang="en-US" sz="2000" dirty="0"/>
          </a:p>
          <a:p>
            <a:pPr marL="384048" lvl="2" indent="0">
              <a:buNone/>
            </a:pPr>
            <a:r>
              <a:rPr lang="en-US" sz="1600" dirty="0" err="1"/>
              <a:t>Exemplo</a:t>
            </a:r>
            <a:r>
              <a:rPr lang="en-US" sz="1600" dirty="0"/>
              <a:t>:  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#pragma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parallel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426A-9E78-4236-88D9-4B567766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269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F333-698D-4702-9E58-EEEA1168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1B81D-01D3-4EDB-B6AE-FF6A1AAFC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pt-BR" sz="2400" dirty="0"/>
              <a:t>Algoritmo</a:t>
            </a:r>
            <a:r>
              <a:rPr lang="en-US" sz="2400" dirty="0"/>
              <a:t> </a:t>
            </a:r>
            <a:r>
              <a:rPr lang="en-US" sz="2400" dirty="0" err="1"/>
              <a:t>Apriori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É um dos </a:t>
            </a:r>
            <a:r>
              <a:rPr lang="en-US" sz="2000" dirty="0" err="1"/>
              <a:t>algoritmos</a:t>
            </a:r>
            <a:r>
              <a:rPr lang="en-US" sz="2000" dirty="0"/>
              <a:t> </a:t>
            </a:r>
            <a:r>
              <a:rPr lang="en-US" sz="2000" dirty="0" err="1"/>
              <a:t>mais</a:t>
            </a:r>
            <a:r>
              <a:rPr lang="en-US" sz="2000" dirty="0"/>
              <a:t> </a:t>
            </a:r>
            <a:r>
              <a:rPr lang="en-US" sz="2000" dirty="0" err="1"/>
              <a:t>famosos</a:t>
            </a:r>
            <a:r>
              <a:rPr lang="en-US" sz="2000" dirty="0"/>
              <a:t> para </a:t>
            </a:r>
            <a:r>
              <a:rPr lang="en-US" sz="2000" dirty="0" err="1"/>
              <a:t>Mineração</a:t>
            </a:r>
            <a:r>
              <a:rPr lang="en-US" sz="2000" dirty="0"/>
              <a:t> de Dados, </a:t>
            </a:r>
            <a:r>
              <a:rPr lang="en-US" sz="2000" dirty="0" err="1"/>
              <a:t>proposto</a:t>
            </a:r>
            <a:r>
              <a:rPr lang="en-US" sz="2000" dirty="0"/>
              <a:t> por Agrawal et al </a:t>
            </a:r>
            <a:r>
              <a:rPr lang="en-US" sz="2000" dirty="0" err="1"/>
              <a:t>em</a:t>
            </a:r>
            <a:r>
              <a:rPr lang="en-US" sz="2000" dirty="0"/>
              <a:t> 1993 para </a:t>
            </a:r>
            <a:r>
              <a:rPr lang="en-US" sz="2000" dirty="0" err="1"/>
              <a:t>busca</a:t>
            </a:r>
            <a:r>
              <a:rPr lang="en-US" sz="2000" dirty="0"/>
              <a:t> de </a:t>
            </a:r>
            <a:r>
              <a:rPr lang="en-US" sz="2000" dirty="0" err="1"/>
              <a:t>padrões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bancos</a:t>
            </a:r>
            <a:r>
              <a:rPr lang="en-US" sz="2000" dirty="0"/>
              <a:t> de dados (BARANAUSKAS, 2007)</a:t>
            </a:r>
            <a:endParaRPr lang="en-US" sz="2000" baseline="30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/>
              <a:t>Os</a:t>
            </a:r>
            <a:r>
              <a:rPr lang="en-US" sz="2000" dirty="0"/>
              <a:t> conjuntos de </a:t>
            </a:r>
            <a:r>
              <a:rPr lang="en-US" sz="2000" dirty="0" err="1"/>
              <a:t>itens</a:t>
            </a:r>
            <a:r>
              <a:rPr lang="en-US" sz="2000" dirty="0"/>
              <a:t> </a:t>
            </a:r>
            <a:r>
              <a:rPr lang="en-US" sz="2000" dirty="0" err="1"/>
              <a:t>frequentes</a:t>
            </a:r>
            <a:r>
              <a:rPr lang="en-US" sz="2000" dirty="0"/>
              <a:t> </a:t>
            </a:r>
            <a:r>
              <a:rPr lang="en-US" sz="2000" dirty="0" err="1"/>
              <a:t>determinados</a:t>
            </a:r>
            <a:r>
              <a:rPr lang="en-US" sz="2000" dirty="0"/>
              <a:t> </a:t>
            </a:r>
            <a:r>
              <a:rPr lang="en-US" sz="2000" dirty="0" err="1"/>
              <a:t>pelo</a:t>
            </a:r>
            <a:r>
              <a:rPr lang="en-US" sz="2000" dirty="0"/>
              <a:t> </a:t>
            </a:r>
            <a:r>
              <a:rPr lang="en-US" sz="2000" dirty="0" err="1"/>
              <a:t>Apriori</a:t>
            </a:r>
            <a:r>
              <a:rPr lang="en-US" sz="2000" dirty="0"/>
              <a:t> </a:t>
            </a:r>
            <a:r>
              <a:rPr lang="en-US" sz="2000" dirty="0" err="1"/>
              <a:t>podem</a:t>
            </a:r>
            <a:r>
              <a:rPr lang="en-US" sz="2000" dirty="0"/>
              <a:t> ser </a:t>
            </a:r>
            <a:r>
              <a:rPr lang="en-US" sz="2000" dirty="0" err="1"/>
              <a:t>usados</a:t>
            </a:r>
            <a:r>
              <a:rPr lang="en-US" sz="2000" dirty="0"/>
              <a:t> para </a:t>
            </a:r>
            <a:r>
              <a:rPr lang="en-US" sz="2000" dirty="0" err="1"/>
              <a:t>determinar</a:t>
            </a:r>
            <a:r>
              <a:rPr lang="en-US" sz="2000" dirty="0"/>
              <a:t> </a:t>
            </a:r>
            <a:r>
              <a:rPr lang="en-US" sz="2000" dirty="0" err="1"/>
              <a:t>Regras</a:t>
            </a:r>
            <a:r>
              <a:rPr lang="en-US" sz="2000" dirty="0"/>
              <a:t> de </a:t>
            </a:r>
            <a:r>
              <a:rPr lang="en-US" sz="2000" dirty="0" err="1"/>
              <a:t>Associação</a:t>
            </a:r>
            <a:r>
              <a:rPr lang="en-US" sz="2000" dirty="0"/>
              <a:t> (JABEEN, 2018)</a:t>
            </a:r>
            <a:endParaRPr lang="en-US" sz="2000" baseline="30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/>
              <a:t>Também</a:t>
            </a:r>
            <a:r>
              <a:rPr lang="en-US" sz="2000" dirty="0"/>
              <a:t> </a:t>
            </a:r>
            <a:r>
              <a:rPr lang="en-US" sz="2000" dirty="0" err="1"/>
              <a:t>utilizado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análise</a:t>
            </a:r>
            <a:r>
              <a:rPr lang="en-US" sz="2000" dirty="0"/>
              <a:t> de </a:t>
            </a:r>
            <a:r>
              <a:rPr lang="en-US" sz="2000" dirty="0" err="1"/>
              <a:t>cesta</a:t>
            </a:r>
            <a:r>
              <a:rPr lang="en-US" sz="2000" dirty="0"/>
              <a:t> de </a:t>
            </a:r>
            <a:r>
              <a:rPr lang="en-US" sz="2000" dirty="0" err="1"/>
              <a:t>compras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supermercados</a:t>
            </a:r>
            <a:r>
              <a:rPr lang="en-US" sz="2000" dirty="0"/>
              <a:t> para </a:t>
            </a:r>
            <a:r>
              <a:rPr lang="en-US" sz="2000" dirty="0" err="1"/>
              <a:t>determinar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itens</a:t>
            </a:r>
            <a:r>
              <a:rPr lang="en-US" sz="2000" dirty="0"/>
              <a:t> </a:t>
            </a:r>
            <a:r>
              <a:rPr lang="en-US" sz="2000" dirty="0" err="1"/>
              <a:t>comprados</a:t>
            </a:r>
            <a:r>
              <a:rPr lang="en-US" sz="2000" dirty="0"/>
              <a:t> por </a:t>
            </a:r>
            <a:r>
              <a:rPr lang="en-US" sz="2000" dirty="0" err="1"/>
              <a:t>clientes</a:t>
            </a:r>
            <a:r>
              <a:rPr lang="en-US" sz="2000" dirty="0"/>
              <a:t> </a:t>
            </a:r>
            <a:r>
              <a:rPr lang="en-US" sz="2000" dirty="0" err="1"/>
              <a:t>estão</a:t>
            </a:r>
            <a:r>
              <a:rPr lang="en-US" sz="2000" dirty="0"/>
              <a:t> </a:t>
            </a:r>
            <a:r>
              <a:rPr lang="en-US" sz="2000" dirty="0" err="1"/>
              <a:t>relacionados</a:t>
            </a:r>
            <a:r>
              <a:rPr lang="en-US" sz="2000" dirty="0"/>
              <a:t> (BARANAUSKAS, 2007)</a:t>
            </a:r>
            <a:endParaRPr lang="en-US" sz="2000" baseline="30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dirty="0"/>
              <a:t>O Algoritmo </a:t>
            </a:r>
            <a:r>
              <a:rPr lang="pt-BR" sz="2000" dirty="0" err="1"/>
              <a:t>Apriori</a:t>
            </a:r>
            <a:r>
              <a:rPr lang="pt-BR" sz="2000" dirty="0"/>
              <a:t> é um algoritmo custoso, pois usa uma abordagem de força bruta (BOGORNY, 2000)</a:t>
            </a:r>
            <a:endParaRPr lang="pt-BR" sz="2000" baseline="30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dirty="0"/>
              <a:t>A complexidade do mesmo pode chegar a </a:t>
            </a:r>
            <a:r>
              <a:rPr lang="pt-BR" sz="2000" b="1" dirty="0"/>
              <a:t>O(</a:t>
            </a:r>
            <a:r>
              <a:rPr lang="pt-BR" sz="2000" b="1" dirty="0" err="1"/>
              <a:t>NMw</a:t>
            </a:r>
            <a:r>
              <a:rPr lang="pt-BR" sz="2000" b="1" dirty="0"/>
              <a:t>)</a:t>
            </a:r>
            <a:r>
              <a:rPr lang="pt-BR" sz="2000" dirty="0"/>
              <a:t>, sendo </a:t>
            </a:r>
            <a:r>
              <a:rPr lang="pt-BR" sz="2000" b="1" dirty="0"/>
              <a:t>N</a:t>
            </a:r>
            <a:r>
              <a:rPr lang="pt-BR" sz="2000" dirty="0"/>
              <a:t> a quantidade de transações, </a:t>
            </a:r>
            <a:r>
              <a:rPr lang="pt-BR" sz="2000" b="1" dirty="0"/>
              <a:t>M</a:t>
            </a:r>
            <a:r>
              <a:rPr lang="pt-BR" sz="2000" dirty="0"/>
              <a:t> o número de itens candidatos de uma associação e </a:t>
            </a:r>
            <a:r>
              <a:rPr lang="pt-BR" sz="2000" b="1" dirty="0"/>
              <a:t>w</a:t>
            </a:r>
            <a:r>
              <a:rPr lang="pt-BR" sz="2000" dirty="0"/>
              <a:t> a quantidade de itens de uma transação (BOGORNY, 2000)</a:t>
            </a:r>
            <a:endParaRPr lang="pt-BR" sz="2000" baseline="300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2000" baseline="30000" dirty="0"/>
          </a:p>
          <a:p>
            <a:pPr lvl="1">
              <a:buFont typeface="Wingdings" panose="05000000000000000000" pitchFamily="2" charset="2"/>
              <a:buChar char="§"/>
            </a:pPr>
            <a:endParaRPr lang="en-US" baseline="30000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426A-9E78-4236-88D9-4B567766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438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F333-698D-4702-9E58-EEEA1168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1B81D-01D3-4EDB-B6AE-FF6A1AAFC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pt-BR" sz="2400" dirty="0"/>
              <a:t>Algoritmo</a:t>
            </a:r>
            <a:r>
              <a:rPr lang="en-US" sz="2400" dirty="0"/>
              <a:t> </a:t>
            </a:r>
            <a:r>
              <a:rPr lang="en-US" sz="2400" dirty="0" err="1"/>
              <a:t>Apriori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No </a:t>
            </a:r>
            <a:r>
              <a:rPr lang="en-US" dirty="0" err="1"/>
              <a:t>algoritmo</a:t>
            </a:r>
            <a:r>
              <a:rPr lang="en-US" dirty="0"/>
              <a:t>, dado um conjunto de </a:t>
            </a:r>
            <a:r>
              <a:rPr lang="en-US" dirty="0" err="1"/>
              <a:t>transações</a:t>
            </a:r>
            <a:r>
              <a:rPr lang="en-US" dirty="0"/>
              <a:t> (input),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encontra</a:t>
            </a:r>
            <a:r>
              <a:rPr lang="en-US" dirty="0"/>
              <a:t> </a:t>
            </a:r>
            <a:r>
              <a:rPr lang="en-US" dirty="0" err="1"/>
              <a:t>regras</a:t>
            </a:r>
            <a:r>
              <a:rPr lang="en-US" dirty="0"/>
              <a:t> para a </a:t>
            </a:r>
            <a:r>
              <a:rPr lang="en-US" dirty="0" err="1"/>
              <a:t>predição</a:t>
            </a:r>
            <a:r>
              <a:rPr lang="en-US" dirty="0"/>
              <a:t> de </a:t>
            </a:r>
            <a:r>
              <a:rPr lang="en-US" dirty="0" err="1"/>
              <a:t>ocorrência</a:t>
            </a:r>
            <a:r>
              <a:rPr lang="en-US" dirty="0"/>
              <a:t> de </a:t>
            </a:r>
            <a:r>
              <a:rPr lang="en-US" dirty="0" err="1"/>
              <a:t>itens</a:t>
            </a:r>
            <a:r>
              <a:rPr lang="en-US" dirty="0"/>
              <a:t> </a:t>
            </a:r>
            <a:r>
              <a:rPr lang="en-US" dirty="0" err="1"/>
              <a:t>baseado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ocorrência</a:t>
            </a:r>
            <a:r>
              <a:rPr lang="en-US" dirty="0"/>
              <a:t> de outros </a:t>
            </a:r>
            <a:r>
              <a:rPr lang="en-US" dirty="0" err="1"/>
              <a:t>itens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mesma</a:t>
            </a:r>
            <a:r>
              <a:rPr lang="en-US" dirty="0"/>
              <a:t> </a:t>
            </a:r>
            <a:r>
              <a:rPr lang="en-US" dirty="0" err="1"/>
              <a:t>transação</a:t>
            </a:r>
            <a:r>
              <a:rPr lang="en-US" dirty="0"/>
              <a:t> (BOGORNY, 2000)</a:t>
            </a:r>
            <a:endParaRPr lang="en-US" baseline="30000" dirty="0"/>
          </a:p>
          <a:p>
            <a:pPr marL="201168" lvl="1" indent="0">
              <a:buNone/>
            </a:pPr>
            <a:endParaRPr lang="en-US" dirty="0"/>
          </a:p>
          <a:p>
            <a:pPr marL="201168" lvl="1" indent="0">
              <a:buNone/>
            </a:pPr>
            <a:r>
              <a:rPr lang="en-US" dirty="0" err="1"/>
              <a:t>Exemplo</a:t>
            </a:r>
            <a:r>
              <a:rPr lang="en-US" baseline="30000" dirty="0"/>
              <a:t>[7]</a:t>
            </a:r>
            <a:r>
              <a:rPr lang="en-US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426A-9E78-4236-88D9-4B567766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531DC5-120E-4066-AB2F-44BCF709C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811244"/>
              </p:ext>
            </p:extLst>
          </p:nvPr>
        </p:nvGraphicFramePr>
        <p:xfrm>
          <a:off x="988431" y="3732154"/>
          <a:ext cx="3606428" cy="2136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916">
                  <a:extLst>
                    <a:ext uri="{9D8B030D-6E8A-4147-A177-3AD203B41FA5}">
                      <a16:colId xmlns:a16="http://schemas.microsoft.com/office/drawing/2014/main" val="893597197"/>
                    </a:ext>
                  </a:extLst>
                </a:gridCol>
                <a:gridCol w="2567512">
                  <a:extLst>
                    <a:ext uri="{9D8B030D-6E8A-4147-A177-3AD203B41FA5}">
                      <a16:colId xmlns:a16="http://schemas.microsoft.com/office/drawing/2014/main" val="145991013"/>
                    </a:ext>
                  </a:extLst>
                </a:gridCol>
              </a:tblGrid>
              <a:tr h="458993">
                <a:tc>
                  <a:txBody>
                    <a:bodyPr/>
                    <a:lstStyle/>
                    <a:p>
                      <a:r>
                        <a:rPr lang="pt-BR" sz="1400" dirty="0"/>
                        <a:t>ID da Transação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Produtos Comprados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315804"/>
                  </a:ext>
                </a:extLst>
              </a:tr>
              <a:tr h="328495">
                <a:tc>
                  <a:txBody>
                    <a:bodyPr/>
                    <a:lstStyle/>
                    <a:p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Pão, Leite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37939"/>
                  </a:ext>
                </a:extLst>
              </a:tr>
              <a:tr h="264910">
                <a:tc>
                  <a:txBody>
                    <a:bodyPr/>
                    <a:lstStyle/>
                    <a:p>
                      <a:r>
                        <a:rPr lang="pt-B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Pão, Fraldas, Cerveja, Ovos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890270"/>
                  </a:ext>
                </a:extLst>
              </a:tr>
              <a:tr h="328495">
                <a:tc>
                  <a:txBody>
                    <a:bodyPr/>
                    <a:lstStyle/>
                    <a:p>
                      <a:r>
                        <a:rPr lang="pt-B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Leite, Fraldas, Cerveja, Coca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755540"/>
                  </a:ext>
                </a:extLst>
              </a:tr>
              <a:tr h="328495">
                <a:tc>
                  <a:txBody>
                    <a:bodyPr/>
                    <a:lstStyle/>
                    <a:p>
                      <a:r>
                        <a:rPr lang="pt-B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Pão, Leite, Fraldas, Cerveja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820541"/>
                  </a:ext>
                </a:extLst>
              </a:tr>
              <a:tr h="328495">
                <a:tc>
                  <a:txBody>
                    <a:bodyPr/>
                    <a:lstStyle/>
                    <a:p>
                      <a:r>
                        <a:rPr lang="pt-BR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Pão, Leite, Fraldas, Coca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6971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E4817C0-5761-4CC2-A876-F70F0F5AA10C}"/>
              </a:ext>
            </a:extLst>
          </p:cNvPr>
          <p:cNvSpPr txBox="1"/>
          <p:nvPr/>
        </p:nvSpPr>
        <p:spPr>
          <a:xfrm>
            <a:off x="4802401" y="3857414"/>
            <a:ext cx="360047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Exemplo de Regra de Associação</a:t>
            </a:r>
            <a:r>
              <a:rPr lang="pt-BR" baseline="30000" dirty="0"/>
              <a:t>[7]</a:t>
            </a:r>
            <a:r>
              <a:rPr lang="pt-BR" dirty="0"/>
              <a:t>:</a:t>
            </a:r>
          </a:p>
          <a:p>
            <a:endParaRPr lang="pt-BR" dirty="0"/>
          </a:p>
          <a:p>
            <a:r>
              <a:rPr lang="pt-BR" dirty="0"/>
              <a:t>{fraldas} -&gt; </a:t>
            </a:r>
            <a:r>
              <a:rPr lang="pt-BR" b="1" dirty="0"/>
              <a:t>{cerveja} </a:t>
            </a:r>
            <a:r>
              <a:rPr lang="pt-BR" i="1" dirty="0"/>
              <a:t>(~75%)</a:t>
            </a:r>
            <a:r>
              <a:rPr lang="pt-BR" dirty="0"/>
              <a:t>,</a:t>
            </a:r>
          </a:p>
          <a:p>
            <a:r>
              <a:rPr lang="pt-BR" dirty="0"/>
              <a:t>{leite, pão} -&gt; </a:t>
            </a:r>
            <a:r>
              <a:rPr lang="pt-BR" b="1" dirty="0"/>
              <a:t>{ovos, coca} </a:t>
            </a:r>
            <a:r>
              <a:rPr lang="pt-BR" i="1" dirty="0"/>
              <a:t>(~60%)</a:t>
            </a:r>
            <a:r>
              <a:rPr lang="pt-BR" dirty="0"/>
              <a:t>,</a:t>
            </a:r>
          </a:p>
          <a:p>
            <a:r>
              <a:rPr lang="pt-BR" dirty="0"/>
              <a:t>{cerveja, pão} -&gt; </a:t>
            </a:r>
            <a:r>
              <a:rPr lang="pt-BR" b="1" dirty="0"/>
              <a:t>{leite} </a:t>
            </a:r>
            <a:r>
              <a:rPr lang="pt-BR" i="1" dirty="0"/>
              <a:t>(~33%)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6608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F333-698D-4702-9E58-EEEA1168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1B81D-01D3-4EDB-B6AE-FF6A1AAFC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Implementação</a:t>
            </a:r>
            <a:r>
              <a:rPr lang="en-US" sz="2400" dirty="0"/>
              <a:t> do </a:t>
            </a:r>
            <a:r>
              <a:rPr lang="en-US" sz="2400" dirty="0" err="1"/>
              <a:t>Apriori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linguagem</a:t>
            </a:r>
            <a:r>
              <a:rPr lang="en-US" sz="2400" dirty="0"/>
              <a:t> C++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Código serial (single-thread)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Código paralelo (</a:t>
            </a:r>
            <a:r>
              <a:rPr lang="pt-BR" dirty="0" err="1"/>
              <a:t>multi-thread</a:t>
            </a:r>
            <a:r>
              <a:rPr lang="pt-BR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 Teste de ambas abordagens utilizando uma amostra de dados reais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Dados obtidos no </a:t>
            </a:r>
            <a:r>
              <a:rPr lang="pt-BR" dirty="0" err="1"/>
              <a:t>Kaggle</a:t>
            </a:r>
            <a:endParaRPr lang="pt-BR" baseline="30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Base de dados de compras/transações de um supermercado</a:t>
            </a:r>
            <a:endParaRPr lang="pt-BR" baseline="30000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baseline="30000" dirty="0"/>
              <a:t> </a:t>
            </a:r>
            <a:r>
              <a:rPr lang="pt-BR" dirty="0"/>
              <a:t>Benchmark das duas implementações</a:t>
            </a:r>
            <a:endParaRPr lang="pt-BR" baseline="30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426A-9E78-4236-88D9-4B567766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882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F333-698D-4702-9E58-EEEA1168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1B81D-01D3-4EDB-B6AE-FF6A1AAFC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Implementar</a:t>
            </a:r>
            <a:r>
              <a:rPr lang="en-US" sz="2400" dirty="0"/>
              <a:t> o </a:t>
            </a:r>
            <a:r>
              <a:rPr lang="en-US" sz="2400" dirty="0" err="1"/>
              <a:t>Algoritmo</a:t>
            </a:r>
            <a:r>
              <a:rPr lang="en-US" sz="2400" dirty="0"/>
              <a:t> </a:t>
            </a:r>
            <a:r>
              <a:rPr lang="en-US" sz="2400" dirty="0" err="1"/>
              <a:t>Apriori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linguagem</a:t>
            </a:r>
            <a:r>
              <a:rPr lang="en-US" sz="2400" dirty="0"/>
              <a:t> C++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 err="1"/>
              <a:t>Adaptação</a:t>
            </a:r>
            <a:r>
              <a:rPr lang="en-US" sz="2200" dirty="0"/>
              <a:t> do </a:t>
            </a:r>
            <a:r>
              <a:rPr lang="en-US" sz="2200" dirty="0" err="1"/>
              <a:t>Apriori</a:t>
            </a:r>
            <a:r>
              <a:rPr lang="en-US" sz="2200" dirty="0"/>
              <a:t> para </a:t>
            </a:r>
            <a:r>
              <a:rPr lang="en-US" sz="2200" dirty="0" err="1"/>
              <a:t>frequência</a:t>
            </a:r>
            <a:r>
              <a:rPr lang="en-US" sz="2200" dirty="0"/>
              <a:t> de </a:t>
            </a:r>
            <a:r>
              <a:rPr lang="en-US" sz="2200" dirty="0" err="1"/>
              <a:t>até</a:t>
            </a:r>
            <a:r>
              <a:rPr lang="en-US" sz="2200" dirty="0"/>
              <a:t> </a:t>
            </a:r>
            <a:r>
              <a:rPr lang="en-US" sz="2200" dirty="0" err="1"/>
              <a:t>dois</a:t>
            </a:r>
            <a:r>
              <a:rPr lang="en-US" sz="2200" dirty="0"/>
              <a:t> </a:t>
            </a:r>
            <a:r>
              <a:rPr lang="en-US" sz="2200" dirty="0" err="1"/>
              <a:t>itens</a:t>
            </a:r>
            <a:r>
              <a:rPr lang="en-US" sz="2200" dirty="0"/>
              <a:t>, </a:t>
            </a:r>
            <a:r>
              <a:rPr lang="en-US" sz="2200" dirty="0" err="1"/>
              <a:t>originalmente</a:t>
            </a:r>
            <a:r>
              <a:rPr lang="en-US" sz="2200" dirty="0"/>
              <a:t> </a:t>
            </a:r>
            <a:r>
              <a:rPr lang="en-US" sz="2200" dirty="0" err="1"/>
              <a:t>desenvolvido</a:t>
            </a:r>
            <a:r>
              <a:rPr lang="en-US" sz="2200" dirty="0"/>
              <a:t> </a:t>
            </a:r>
            <a:r>
              <a:rPr lang="en-US" sz="2200" dirty="0" err="1"/>
              <a:t>como</a:t>
            </a:r>
            <a:r>
              <a:rPr lang="en-US" sz="2200" dirty="0"/>
              <a:t> </a:t>
            </a:r>
            <a:r>
              <a:rPr lang="en-US" sz="2200" dirty="0" err="1"/>
              <a:t>uma</a:t>
            </a:r>
            <a:r>
              <a:rPr lang="en-US" sz="2200" dirty="0"/>
              <a:t> procedure MySQL</a:t>
            </a:r>
            <a:endParaRPr lang="en-US" sz="2200" baseline="30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 err="1"/>
              <a:t>Será</a:t>
            </a:r>
            <a:r>
              <a:rPr lang="en-US" sz="2200" dirty="0"/>
              <a:t> </a:t>
            </a:r>
            <a:r>
              <a:rPr lang="en-US" sz="2200" dirty="0" err="1"/>
              <a:t>realizado</a:t>
            </a:r>
            <a:r>
              <a:rPr lang="en-US" sz="2200" dirty="0"/>
              <a:t> testes com dados de </a:t>
            </a:r>
            <a:r>
              <a:rPr lang="en-US" sz="2200" dirty="0" err="1"/>
              <a:t>diferentes</a:t>
            </a:r>
            <a:r>
              <a:rPr lang="en-US" sz="2200" dirty="0"/>
              <a:t> </a:t>
            </a:r>
            <a:r>
              <a:rPr lang="en-US" sz="2200" dirty="0" err="1"/>
              <a:t>tamanhos</a:t>
            </a:r>
            <a:r>
              <a:rPr lang="en-US" sz="2200" dirty="0"/>
              <a:t> de entrada (N)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Para </a:t>
            </a:r>
            <a:r>
              <a:rPr lang="en-US" sz="2200" dirty="0" err="1"/>
              <a:t>cada</a:t>
            </a:r>
            <a:r>
              <a:rPr lang="en-US" sz="2200" dirty="0"/>
              <a:t> </a:t>
            </a:r>
            <a:r>
              <a:rPr lang="en-US" sz="2200" dirty="0" err="1"/>
              <a:t>tamanho</a:t>
            </a:r>
            <a:r>
              <a:rPr lang="en-US" sz="2200" dirty="0"/>
              <a:t> de entrada, </a:t>
            </a:r>
            <a:r>
              <a:rPr lang="en-US" sz="2200" dirty="0" err="1"/>
              <a:t>será</a:t>
            </a:r>
            <a:r>
              <a:rPr lang="en-US" sz="2200" dirty="0"/>
              <a:t> </a:t>
            </a:r>
            <a:r>
              <a:rPr lang="en-US" sz="2200" dirty="0" err="1"/>
              <a:t>feita</a:t>
            </a:r>
            <a:r>
              <a:rPr lang="en-US" sz="2200" dirty="0"/>
              <a:t> a </a:t>
            </a:r>
            <a:r>
              <a:rPr lang="en-US" sz="2200" dirty="0" err="1"/>
              <a:t>medição</a:t>
            </a:r>
            <a:r>
              <a:rPr lang="en-US" sz="2200" dirty="0"/>
              <a:t> do tempo de </a:t>
            </a:r>
            <a:r>
              <a:rPr lang="en-US" sz="2200" dirty="0" err="1"/>
              <a:t>execução</a:t>
            </a:r>
            <a:r>
              <a:rPr lang="en-US" sz="2200" dirty="0"/>
              <a:t> para o </a:t>
            </a:r>
            <a:r>
              <a:rPr lang="en-US" sz="2200" dirty="0" err="1"/>
              <a:t>algoritmo</a:t>
            </a:r>
            <a:r>
              <a:rPr lang="en-US" sz="2200" dirty="0"/>
              <a:t> serial e </a:t>
            </a:r>
            <a:r>
              <a:rPr lang="en-US" sz="2200" dirty="0" err="1"/>
              <a:t>paralelo</a:t>
            </a:r>
            <a:endParaRPr lang="en-US" sz="2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Serial: </a:t>
            </a:r>
            <a:r>
              <a:rPr lang="en-US" sz="1800" dirty="0" err="1"/>
              <a:t>Biblioteca</a:t>
            </a:r>
            <a:r>
              <a:rPr lang="en-US" sz="1800" dirty="0"/>
              <a:t>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time.h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800" dirty="0"/>
              <a:t>e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clock()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 err="1"/>
              <a:t>Paralelo</a:t>
            </a:r>
            <a:r>
              <a:rPr lang="en-US" sz="1800" dirty="0"/>
              <a:t>: </a:t>
            </a:r>
            <a:r>
              <a:rPr lang="en-US" sz="1800" dirty="0" err="1"/>
              <a:t>Função</a:t>
            </a:r>
            <a:r>
              <a:rPr lang="en-US" sz="1800" dirty="0"/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omp_get_wtime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800" dirty="0"/>
              <a:t>da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omp.h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426A-9E78-4236-88D9-4B567766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351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F333-698D-4702-9E58-EEEA1168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1B81D-01D3-4EDB-B6AE-FF6A1AAFC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 err="1"/>
              <a:t>Ambiente</a:t>
            </a:r>
            <a:r>
              <a:rPr lang="en-US" sz="2400" dirty="0"/>
              <a:t> de benchmark e </a:t>
            </a:r>
            <a:r>
              <a:rPr lang="en-US" sz="2400" dirty="0" err="1"/>
              <a:t>desenvolvimento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Intel Core i7-7500U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 err="1"/>
              <a:t>Frequência</a:t>
            </a:r>
            <a:r>
              <a:rPr lang="en-US" sz="1800" dirty="0"/>
              <a:t> de 2.70GHz (</a:t>
            </a:r>
            <a:r>
              <a:rPr lang="en-US" sz="1800" dirty="0" err="1"/>
              <a:t>máx</a:t>
            </a:r>
            <a:r>
              <a:rPr lang="en-US" sz="1800" dirty="0"/>
              <a:t>. 3.5GHz)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Cache L1 128KB, Cache L2 512KB, Cache L3 4MB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2-cores, 4 threads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8GB RAM DDR4-2133MHz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 err="1"/>
              <a:t>Compilador</a:t>
            </a:r>
            <a:r>
              <a:rPr lang="en-US" sz="2200" dirty="0"/>
              <a:t> g++ (MinGW.org GCC-8.2.0-3) 8.2.0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Windows 10 Pro 17763.475 (64-bit)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426A-9E78-4236-88D9-4B567766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964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F333-698D-4702-9E58-EEEA1168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1B81D-01D3-4EDB-B6AE-FF6A1AAFC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Conjunto de dados </a:t>
            </a:r>
            <a:r>
              <a:rPr lang="en-US" sz="2400" dirty="0" err="1"/>
              <a:t>oriundo</a:t>
            </a:r>
            <a:r>
              <a:rPr lang="en-US" sz="2400" dirty="0"/>
              <a:t> do Kaggle Datasets</a:t>
            </a:r>
            <a:endParaRPr lang="en-US" sz="2400" baseline="30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Será</a:t>
            </a:r>
            <a:r>
              <a:rPr lang="en-US" sz="2400" dirty="0"/>
              <a:t> </a:t>
            </a:r>
            <a:r>
              <a:rPr lang="en-US" sz="2400" dirty="0" err="1"/>
              <a:t>realizado</a:t>
            </a:r>
            <a:r>
              <a:rPr lang="en-US" sz="2400" dirty="0"/>
              <a:t> o </a:t>
            </a:r>
            <a:r>
              <a:rPr lang="en-US" sz="2400" dirty="0" err="1"/>
              <a:t>processo</a:t>
            </a:r>
            <a:r>
              <a:rPr lang="en-US" sz="2400" dirty="0"/>
              <a:t> de </a:t>
            </a:r>
            <a:r>
              <a:rPr lang="en-US" sz="2400" dirty="0" err="1"/>
              <a:t>limpeza</a:t>
            </a:r>
            <a:r>
              <a:rPr lang="en-US" sz="2400" dirty="0"/>
              <a:t> dos dados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Python e as </a:t>
            </a:r>
            <a:r>
              <a:rPr lang="en-US" sz="2200" dirty="0" err="1"/>
              <a:t>bibliotecas</a:t>
            </a:r>
            <a:r>
              <a:rPr lang="en-US" sz="2200" dirty="0"/>
              <a:t> Pandas &amp; </a:t>
            </a:r>
            <a:r>
              <a:rPr lang="en-US" sz="2200" dirty="0" err="1"/>
              <a:t>Numpy</a:t>
            </a:r>
            <a:endParaRPr lang="en-US" sz="2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Dados </a:t>
            </a:r>
            <a:r>
              <a:rPr lang="en-US" sz="2200" dirty="0" err="1"/>
              <a:t>separados</a:t>
            </a:r>
            <a:r>
              <a:rPr lang="en-US" sz="2200" dirty="0"/>
              <a:t> </a:t>
            </a:r>
            <a:r>
              <a:rPr lang="en-US" sz="2200" dirty="0" err="1"/>
              <a:t>em</a:t>
            </a:r>
            <a:r>
              <a:rPr lang="en-US" sz="2200" dirty="0"/>
              <a:t> </a:t>
            </a:r>
            <a:r>
              <a:rPr lang="en-US" sz="2200" dirty="0" err="1"/>
              <a:t>três</a:t>
            </a:r>
            <a:r>
              <a:rPr lang="en-US" sz="2200" dirty="0"/>
              <a:t> conjuntos de dados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1) Com 21 </a:t>
            </a:r>
            <a:r>
              <a:rPr lang="en-US" sz="1800" dirty="0" err="1"/>
              <a:t>linhas</a:t>
            </a:r>
            <a:r>
              <a:rPr lang="en-US" sz="1800" dirty="0"/>
              <a:t>, 10 </a:t>
            </a:r>
            <a:r>
              <a:rPr lang="en-US" sz="1800" dirty="0" err="1"/>
              <a:t>transações</a:t>
            </a:r>
            <a:r>
              <a:rPr lang="en-US" sz="1800" dirty="0"/>
              <a:t> </a:t>
            </a:r>
            <a:r>
              <a:rPr lang="en-US" sz="1800" dirty="0" err="1"/>
              <a:t>distintas</a:t>
            </a:r>
            <a:r>
              <a:rPr lang="en-US" sz="1800" dirty="0"/>
              <a:t> e 7 </a:t>
            </a:r>
            <a:r>
              <a:rPr lang="en-US" sz="1800" dirty="0" err="1"/>
              <a:t>produtos</a:t>
            </a:r>
            <a:r>
              <a:rPr lang="en-US" sz="1800" dirty="0"/>
              <a:t> </a:t>
            </a:r>
            <a:r>
              <a:rPr lang="en-US" sz="1800" dirty="0" err="1"/>
              <a:t>distintos</a:t>
            </a:r>
            <a:endParaRPr lang="en-US" sz="18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2) Com 100 </a:t>
            </a:r>
            <a:r>
              <a:rPr lang="en-US" sz="1800" dirty="0" err="1"/>
              <a:t>linhas</a:t>
            </a:r>
            <a:r>
              <a:rPr lang="en-US" sz="1800" dirty="0"/>
              <a:t>, 20 </a:t>
            </a:r>
            <a:r>
              <a:rPr lang="en-US" sz="1800" dirty="0" err="1"/>
              <a:t>transações</a:t>
            </a:r>
            <a:r>
              <a:rPr lang="en-US" sz="1800" dirty="0"/>
              <a:t> </a:t>
            </a:r>
            <a:r>
              <a:rPr lang="en-US" sz="1800" dirty="0" err="1"/>
              <a:t>distintas</a:t>
            </a:r>
            <a:r>
              <a:rPr lang="en-US" sz="1800" dirty="0"/>
              <a:t> e 10 </a:t>
            </a:r>
            <a:r>
              <a:rPr lang="en-US" sz="1800" dirty="0" err="1"/>
              <a:t>produtos</a:t>
            </a:r>
            <a:r>
              <a:rPr lang="en-US" sz="1800" dirty="0"/>
              <a:t> </a:t>
            </a:r>
            <a:r>
              <a:rPr lang="en-US" sz="1800" dirty="0" err="1"/>
              <a:t>distintos</a:t>
            </a:r>
            <a:endParaRPr lang="en-US" sz="18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3) Com 500 </a:t>
            </a:r>
            <a:r>
              <a:rPr lang="en-US" sz="1800" dirty="0" err="1"/>
              <a:t>linhas</a:t>
            </a:r>
            <a:r>
              <a:rPr lang="en-US" sz="1800" dirty="0"/>
              <a:t>, 30 </a:t>
            </a:r>
            <a:r>
              <a:rPr lang="en-US" sz="1800" dirty="0" err="1"/>
              <a:t>transações</a:t>
            </a:r>
            <a:r>
              <a:rPr lang="en-US" sz="1800" dirty="0"/>
              <a:t> </a:t>
            </a:r>
            <a:r>
              <a:rPr lang="en-US" sz="1800" dirty="0" err="1"/>
              <a:t>distintas</a:t>
            </a:r>
            <a:r>
              <a:rPr lang="en-US" sz="1800" dirty="0"/>
              <a:t> e 20 </a:t>
            </a:r>
            <a:r>
              <a:rPr lang="en-US" sz="1800" dirty="0" err="1"/>
              <a:t>produtos</a:t>
            </a:r>
            <a:r>
              <a:rPr lang="en-US" sz="1800" dirty="0"/>
              <a:t> </a:t>
            </a:r>
            <a:r>
              <a:rPr lang="en-US" sz="1800" dirty="0" err="1"/>
              <a:t>distintos</a:t>
            </a:r>
            <a:endParaRPr lang="en-US" sz="18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4) Com 1000 </a:t>
            </a:r>
            <a:r>
              <a:rPr lang="en-US" sz="1800" dirty="0" err="1"/>
              <a:t>linhas</a:t>
            </a:r>
            <a:r>
              <a:rPr lang="en-US" sz="1800" dirty="0"/>
              <a:t>, 40 </a:t>
            </a:r>
            <a:r>
              <a:rPr lang="en-US" sz="1800" dirty="0" err="1"/>
              <a:t>transações</a:t>
            </a:r>
            <a:r>
              <a:rPr lang="en-US" sz="1800" dirty="0"/>
              <a:t> </a:t>
            </a:r>
            <a:r>
              <a:rPr lang="en-US" sz="1800" dirty="0" err="1"/>
              <a:t>distintas</a:t>
            </a:r>
            <a:r>
              <a:rPr lang="en-US" sz="1800" dirty="0"/>
              <a:t> e 30 </a:t>
            </a:r>
            <a:r>
              <a:rPr lang="en-US" sz="1800" dirty="0" err="1"/>
              <a:t>produtos</a:t>
            </a:r>
            <a:r>
              <a:rPr lang="en-US" sz="1800" dirty="0"/>
              <a:t> </a:t>
            </a:r>
            <a:r>
              <a:rPr lang="en-US" sz="1800" dirty="0" err="1"/>
              <a:t>distintos</a:t>
            </a:r>
            <a:endParaRPr lang="en-US" sz="18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426A-9E78-4236-88D9-4B567766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45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F333-698D-4702-9E58-EEEA1168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Parciais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426A-9E78-4236-88D9-4B567766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FC7E08-743F-4916-8762-4D5FE94B5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563" y="1870237"/>
            <a:ext cx="6136874" cy="413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47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F333-698D-4702-9E58-EEEA1168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Parciais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426A-9E78-4236-88D9-4B567766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BDD7E9-59B5-43C3-84C9-22C7E11A5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595" y="2574945"/>
            <a:ext cx="7070810" cy="290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884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F333-698D-4702-9E58-EEEA1168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Parciais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426A-9E78-4236-88D9-4B567766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DB3ED-D26E-492B-A4BA-1E1D25941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29" y="1866097"/>
            <a:ext cx="7216542" cy="426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403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F333-698D-4702-9E58-EEEA1168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Parciais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426A-9E78-4236-88D9-4B567766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13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DCBBA8-223D-4D83-B312-C8B5D4657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672" y="2038526"/>
            <a:ext cx="6092655" cy="368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50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F333-698D-4702-9E58-EEEA1168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Parciais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426A-9E78-4236-88D9-4B567766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8F978-58B3-4838-B565-0A267BFAF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7" y="1856427"/>
            <a:ext cx="5410807" cy="430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701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C4CF-53DA-4786-BF69-F69F52F40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Referências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272E8-34E2-47AB-BD4B-E3339FA60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[1] </a:t>
            </a:r>
            <a:r>
              <a:rPr lang="en-US" dirty="0" err="1">
                <a:solidFill>
                  <a:schemeClr val="tx1"/>
                </a:solidFill>
              </a:rPr>
              <a:t>Almasi</a:t>
            </a:r>
            <a:r>
              <a:rPr lang="en-US" dirty="0">
                <a:solidFill>
                  <a:schemeClr val="tx1"/>
                </a:solidFill>
              </a:rPr>
              <a:t>, G.S. e A. Gottlieb (1989). </a:t>
            </a:r>
            <a:r>
              <a:rPr lang="en-US" i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Highly Parallel Computing</a:t>
            </a:r>
            <a:r>
              <a:rPr lang="en-US" dirty="0">
                <a:solidFill>
                  <a:schemeClr val="tx1"/>
                </a:solidFill>
              </a:rPr>
              <a:t>. Benjamin-Cummings, Redwood City, CA.</a:t>
            </a:r>
          </a:p>
          <a:p>
            <a:r>
              <a:rPr lang="en-US" dirty="0">
                <a:solidFill>
                  <a:schemeClr val="tx1"/>
                </a:solidFill>
              </a:rPr>
              <a:t>[2] </a:t>
            </a:r>
            <a:r>
              <a:rPr lang="pt-BR" dirty="0">
                <a:solidFill>
                  <a:schemeClr val="tx1"/>
                </a:solidFill>
              </a:rPr>
              <a:t>SILVA, Fernando (2007). DCC-FCUP. Introdução ao </a:t>
            </a:r>
            <a:r>
              <a:rPr lang="pt-BR" dirty="0" err="1">
                <a:solidFill>
                  <a:schemeClr val="tx1"/>
                </a:solidFill>
              </a:rPr>
              <a:t>OpenMP</a:t>
            </a:r>
            <a:r>
              <a:rPr lang="pt-BR" dirty="0">
                <a:solidFill>
                  <a:schemeClr val="tx1"/>
                </a:solidFill>
              </a:rPr>
              <a:t>. Disponível em: &lt;https://www.dcc.fc.up.pt/~fds/aulas/PPD/0708/intro_openmp-1x2.pdf&gt;</a:t>
            </a:r>
          </a:p>
          <a:p>
            <a:r>
              <a:rPr lang="en-US" dirty="0">
                <a:solidFill>
                  <a:schemeClr val="tx1"/>
                </a:solidFill>
              </a:rPr>
              <a:t>[3] Rakesh Agrawal and Ramakrishnan Srikant </a:t>
            </a:r>
            <a:r>
              <a:rPr lang="en-US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 algorithms for mining association rules in large databases</a:t>
            </a:r>
            <a:r>
              <a:rPr lang="en-US" dirty="0">
                <a:solidFill>
                  <a:schemeClr val="tx1"/>
                </a:solidFill>
              </a:rPr>
              <a:t>. Proceedings of the 20th International Conference on Very Large Data Bases, VLDB, pages 487-499, Santiago, Chile, September 1994.</a:t>
            </a:r>
          </a:p>
          <a:p>
            <a:r>
              <a:rPr lang="en-US" dirty="0">
                <a:solidFill>
                  <a:schemeClr val="tx1"/>
                </a:solidFill>
              </a:rPr>
              <a:t>[4] </a:t>
            </a:r>
            <a:r>
              <a:rPr lang="pt-BR" dirty="0">
                <a:solidFill>
                  <a:schemeClr val="tx1"/>
                </a:solidFill>
              </a:rPr>
              <a:t>SILVA, Michel de A. Aplicação do Algoritmo </a:t>
            </a:r>
            <a:r>
              <a:rPr lang="pt-BR" dirty="0" err="1">
                <a:solidFill>
                  <a:schemeClr val="tx1"/>
                </a:solidFill>
              </a:rPr>
              <a:t>Apriori</a:t>
            </a:r>
            <a:r>
              <a:rPr lang="pt-BR" dirty="0">
                <a:solidFill>
                  <a:schemeClr val="tx1"/>
                </a:solidFill>
              </a:rPr>
              <a:t> para uma base de dados de </a:t>
            </a:r>
            <a:r>
              <a:rPr lang="pt-BR" dirty="0" err="1">
                <a:solidFill>
                  <a:schemeClr val="tx1"/>
                </a:solidFill>
              </a:rPr>
              <a:t>ictioplâncton</a:t>
            </a:r>
            <a:r>
              <a:rPr lang="pt-BR" dirty="0">
                <a:solidFill>
                  <a:schemeClr val="tx1"/>
                </a:solidFill>
              </a:rPr>
              <a:t> em um reservatório de água doce da Amazônia Legal. Disponível em: &lt;http://www.lbd.dcc.ufmg.br/</a:t>
            </a:r>
            <a:r>
              <a:rPr lang="pt-BR" dirty="0" err="1">
                <a:solidFill>
                  <a:schemeClr val="tx1"/>
                </a:solidFill>
              </a:rPr>
              <a:t>colecoes</a:t>
            </a:r>
            <a:r>
              <a:rPr lang="pt-BR" dirty="0">
                <a:solidFill>
                  <a:schemeClr val="tx1"/>
                </a:solidFill>
              </a:rPr>
              <a:t>/</a:t>
            </a:r>
            <a:r>
              <a:rPr lang="pt-BR" dirty="0" err="1">
                <a:solidFill>
                  <a:schemeClr val="tx1"/>
                </a:solidFill>
              </a:rPr>
              <a:t>eniac</a:t>
            </a:r>
            <a:r>
              <a:rPr lang="pt-BR" dirty="0">
                <a:solidFill>
                  <a:schemeClr val="tx1"/>
                </a:solidFill>
              </a:rPr>
              <a:t>/2013/0038.pdf&gt;</a:t>
            </a:r>
          </a:p>
          <a:p>
            <a:r>
              <a:rPr lang="en-US" dirty="0">
                <a:solidFill>
                  <a:schemeClr val="tx1"/>
                </a:solidFill>
              </a:rPr>
              <a:t>[5] </a:t>
            </a:r>
            <a:r>
              <a:rPr lang="pt-BR" dirty="0">
                <a:solidFill>
                  <a:schemeClr val="tx1"/>
                </a:solidFill>
              </a:rPr>
              <a:t>BARANAUSKAS, José Augusto (2007). Departamento de Física e Matemática - FFCLRP-USP. Regras de Associação. Disponível em: &lt;http://dcm.ffclrp.usp.br/~augusto/</a:t>
            </a:r>
            <a:r>
              <a:rPr lang="pt-BR" dirty="0" err="1">
                <a:solidFill>
                  <a:schemeClr val="tx1"/>
                </a:solidFill>
              </a:rPr>
              <a:t>teaching</a:t>
            </a:r>
            <a:r>
              <a:rPr lang="pt-BR" dirty="0">
                <a:solidFill>
                  <a:schemeClr val="tx1"/>
                </a:solidFill>
              </a:rPr>
              <a:t>/ami/AM-I-Regras-Associacao.pdf&gt;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[6] JABEEN, Hafsa. </a:t>
            </a:r>
            <a:r>
              <a:rPr lang="en-US" dirty="0" err="1">
                <a:solidFill>
                  <a:schemeClr val="tx1"/>
                </a:solidFill>
              </a:rPr>
              <a:t>DataCamp</a:t>
            </a:r>
            <a:r>
              <a:rPr lang="en-US" dirty="0">
                <a:solidFill>
                  <a:schemeClr val="tx1"/>
                </a:solidFill>
              </a:rPr>
              <a:t>, 2018. Market Basket Analysis using R. </a:t>
            </a:r>
            <a:r>
              <a:rPr lang="en-US" dirty="0" err="1">
                <a:solidFill>
                  <a:schemeClr val="tx1"/>
                </a:solidFill>
              </a:rPr>
              <a:t>Disponível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em</a:t>
            </a:r>
            <a:r>
              <a:rPr lang="en-US" dirty="0">
                <a:solidFill>
                  <a:schemeClr val="tx1"/>
                </a:solidFill>
              </a:rPr>
              <a:t>: &lt;https://www.datacamp.com/community/tutorials/market-basket-analysis-r&gt;</a:t>
            </a:r>
          </a:p>
          <a:p>
            <a:r>
              <a:rPr lang="pt-BR" dirty="0">
                <a:solidFill>
                  <a:schemeClr val="tx1"/>
                </a:solidFill>
              </a:rPr>
              <a:t>[7] BOGORNY, Vania, 2000. Apresentação adaptada do material do livro: </a:t>
            </a:r>
            <a:r>
              <a:rPr lang="pt-BR" dirty="0" err="1">
                <a:solidFill>
                  <a:schemeClr val="tx1"/>
                </a:solidFill>
              </a:rPr>
              <a:t>Introduction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 err="1">
                <a:solidFill>
                  <a:schemeClr val="tx1"/>
                </a:solidFill>
              </a:rPr>
              <a:t>to</a:t>
            </a:r>
            <a:r>
              <a:rPr lang="pt-BR" dirty="0">
                <a:solidFill>
                  <a:schemeClr val="tx1"/>
                </a:solidFill>
              </a:rPr>
              <a:t> Data Mining - </a:t>
            </a:r>
            <a:r>
              <a:rPr lang="pt-BR" dirty="0" err="1">
                <a:solidFill>
                  <a:schemeClr val="tx1"/>
                </a:solidFill>
              </a:rPr>
              <a:t>Tan</a:t>
            </a:r>
            <a:r>
              <a:rPr lang="pt-BR" dirty="0">
                <a:solidFill>
                  <a:schemeClr val="tx1"/>
                </a:solidFill>
              </a:rPr>
              <a:t>, </a:t>
            </a:r>
            <a:r>
              <a:rPr lang="pt-BR" dirty="0" err="1">
                <a:solidFill>
                  <a:schemeClr val="tx1"/>
                </a:solidFill>
              </a:rPr>
              <a:t>Steinbach</a:t>
            </a:r>
            <a:r>
              <a:rPr lang="pt-BR" dirty="0">
                <a:solidFill>
                  <a:schemeClr val="tx1"/>
                </a:solidFill>
              </a:rPr>
              <a:t> e </a:t>
            </a:r>
            <a:r>
              <a:rPr lang="pt-BR" dirty="0" err="1">
                <a:solidFill>
                  <a:schemeClr val="tx1"/>
                </a:solidFill>
              </a:rPr>
              <a:t>Kumar</a:t>
            </a:r>
            <a:r>
              <a:rPr lang="pt-BR" dirty="0">
                <a:solidFill>
                  <a:schemeClr val="tx1"/>
                </a:solidFill>
              </a:rPr>
              <a:t>. Disponível em: &lt;www.inf.ufsc.br/~</a:t>
            </a:r>
            <a:r>
              <a:rPr lang="pt-BR" dirty="0" err="1">
                <a:solidFill>
                  <a:schemeClr val="tx1"/>
                </a:solidFill>
              </a:rPr>
              <a:t>vania</a:t>
            </a:r>
            <a:r>
              <a:rPr lang="pt-BR" dirty="0">
                <a:solidFill>
                  <a:schemeClr val="tx1"/>
                </a:solidFill>
              </a:rPr>
              <a:t>/</a:t>
            </a:r>
            <a:r>
              <a:rPr lang="pt-BR" dirty="0" err="1">
                <a:solidFill>
                  <a:schemeClr val="tx1"/>
                </a:solidFill>
              </a:rPr>
              <a:t>teaching</a:t>
            </a:r>
            <a:r>
              <a:rPr lang="pt-BR" dirty="0">
                <a:solidFill>
                  <a:schemeClr val="tx1"/>
                </a:solidFill>
              </a:rPr>
              <a:t>/INE5644/RegrasDeAssociacao.ppt&gt;</a:t>
            </a:r>
            <a:endParaRPr lang="pt-BR" dirty="0">
              <a:solidFill>
                <a:schemeClr val="tx1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pt-BR" dirty="0">
                <a:solidFill>
                  <a:schemeClr val="tx1"/>
                </a:solidFill>
              </a:rPr>
              <a:t>[8] KAGGLE, 2019. </a:t>
            </a:r>
            <a:r>
              <a:rPr lang="pt-BR" dirty="0" err="1">
                <a:solidFill>
                  <a:schemeClr val="tx1"/>
                </a:solidFill>
              </a:rPr>
              <a:t>SalesDB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 err="1">
                <a:solidFill>
                  <a:schemeClr val="tx1"/>
                </a:solidFill>
              </a:rPr>
              <a:t>Grocery</a:t>
            </a:r>
            <a:r>
              <a:rPr lang="pt-BR" dirty="0">
                <a:solidFill>
                  <a:schemeClr val="tx1"/>
                </a:solidFill>
              </a:rPr>
              <a:t> Market. Disponível em: &lt;</a:t>
            </a:r>
            <a:r>
              <a:rPr lang="pt-BR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https://www.kaggle.com/marcinex1423/</a:t>
            </a:r>
            <a:r>
              <a:rPr lang="pt-BR" dirty="0" err="1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salesdb-grocery</a:t>
            </a:r>
            <a:r>
              <a:rPr lang="pt-BR" dirty="0">
                <a:solidFill>
                  <a:schemeClr val="tx1"/>
                </a:solidFill>
              </a:rPr>
              <a:t>&gt;</a:t>
            </a:r>
          </a:p>
          <a:p>
            <a:r>
              <a:rPr lang="en-US" dirty="0">
                <a:solidFill>
                  <a:schemeClr val="tx1"/>
                </a:solidFill>
              </a:rPr>
              <a:t>[9] </a:t>
            </a:r>
            <a:r>
              <a:rPr lang="pt-BR" dirty="0">
                <a:solidFill>
                  <a:schemeClr val="tx1"/>
                </a:solidFill>
              </a:rPr>
              <a:t>MELO, Humberto Gustavo de. Devmedia, 2008. Algoritmo </a:t>
            </a:r>
            <a:r>
              <a:rPr lang="pt-BR" dirty="0" err="1">
                <a:solidFill>
                  <a:schemeClr val="tx1"/>
                </a:solidFill>
              </a:rPr>
              <a:t>Apriori</a:t>
            </a:r>
            <a:r>
              <a:rPr lang="pt-BR" dirty="0">
                <a:solidFill>
                  <a:schemeClr val="tx1"/>
                </a:solidFill>
              </a:rPr>
              <a:t> no MySQL Utilizando Procedure. Disponível em: &lt;https://www.devmedia.com.br/algoritmo-</a:t>
            </a:r>
            <a:r>
              <a:rPr lang="pt-BR" dirty="0" err="1">
                <a:solidFill>
                  <a:schemeClr val="tx1"/>
                </a:solidFill>
              </a:rPr>
              <a:t>apriori</a:t>
            </a:r>
            <a:r>
              <a:rPr lang="pt-BR" dirty="0">
                <a:solidFill>
                  <a:schemeClr val="tx1"/>
                </a:solidFill>
              </a:rPr>
              <a:t>-no-</a:t>
            </a:r>
            <a:r>
              <a:rPr lang="pt-BR" dirty="0" err="1">
                <a:solidFill>
                  <a:schemeClr val="tx1"/>
                </a:solidFill>
              </a:rPr>
              <a:t>mysql</a:t>
            </a:r>
            <a:r>
              <a:rPr lang="pt-BR" dirty="0">
                <a:solidFill>
                  <a:schemeClr val="tx1"/>
                </a:solidFill>
              </a:rPr>
              <a:t>-utilizando-procedure/9930&gt;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943B2-B155-422D-8722-E5560F8FC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6470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163</TotalTime>
  <Words>717</Words>
  <Application>Microsoft Office PowerPoint</Application>
  <PresentationFormat>On-screen Show (4:3)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Corbel</vt:lpstr>
      <vt:lpstr>Courier New</vt:lpstr>
      <vt:lpstr>Wingdings</vt:lpstr>
      <vt:lpstr>Retrospect</vt:lpstr>
      <vt:lpstr>Implementação e Benchmarking do Algoritmo Apriori Utilizando OpenMP</vt:lpstr>
      <vt:lpstr>Roteiro</vt:lpstr>
      <vt:lpstr>Introdução</vt:lpstr>
      <vt:lpstr>Introdução</vt:lpstr>
      <vt:lpstr>Introdução</vt:lpstr>
      <vt:lpstr>Objetivos</vt:lpstr>
      <vt:lpstr>Metodologia</vt:lpstr>
      <vt:lpstr>Metodologia</vt:lpstr>
      <vt:lpstr>Metodologia</vt:lpstr>
      <vt:lpstr>Resultados Parciais</vt:lpstr>
      <vt:lpstr>Resultados Parciais</vt:lpstr>
      <vt:lpstr>Resultados Parciais</vt:lpstr>
      <vt:lpstr>Resultados Parciais</vt:lpstr>
      <vt:lpstr>Resultados Parciais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Nivaldo Carvalho</dc:creator>
  <cp:lastModifiedBy>Nivaldo Carvalho</cp:lastModifiedBy>
  <cp:revision>38</cp:revision>
  <dcterms:created xsi:type="dcterms:W3CDTF">2019-05-09T13:27:11Z</dcterms:created>
  <dcterms:modified xsi:type="dcterms:W3CDTF">2019-05-09T16:17:18Z</dcterms:modified>
</cp:coreProperties>
</file>